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C5-4131-910B-A5321CA32E62}"/>
              </c:ext>
            </c:extLst>
          </c:dPt>
          <c:dPt>
            <c:idx val="1"/>
            <c:bubble3D val="0"/>
            <c:spPr>
              <a:solidFill>
                <a:srgbClr val="E05C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C5-4131-910B-A5321CA32E6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C5-4131-910B-A5321CA32E6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C5-4131-910B-A5321CA32E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Legitimate (96.42%)</c:v>
                </c:pt>
                <c:pt idx="1">
                  <c:v>Fraud (3.58%)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96.42</c:v>
                </c:pt>
                <c:pt idx="1">
                  <c:v>3.58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C5-4131-910B-A5321CA32E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D1B2A"/>
                </a:solidFill>
                <a:latin typeface="Arial"/>
              </a:rPr>
              <a:t>Before vs After SMOTE Resampling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SMOTE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Legitimate</c:v>
                </c:pt>
                <c:pt idx="1">
                  <c:v>Fraud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119573</c:v>
                </c:pt>
                <c:pt idx="1">
                  <c:v>4439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46-4BE8-8F88-0AF8332BEA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SMOTE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Legitimate</c:v>
                </c:pt>
                <c:pt idx="1">
                  <c:v>Fraud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119573</c:v>
                </c:pt>
                <c:pt idx="1">
                  <c:v>59786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46-4BE8-8F88-0AF8332BEA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D1B2A"/>
                </a:solidFill>
                <a:latin typeface="Arial"/>
              </a:rPr>
              <a:t>Top 10 Columns by % Missing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E05C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id_24</c:v>
                </c:pt>
                <c:pt idx="1">
                  <c:v>id_25</c:v>
                </c:pt>
                <c:pt idx="2">
                  <c:v>id_21</c:v>
                </c:pt>
                <c:pt idx="3">
                  <c:v>id_08</c:v>
                </c:pt>
                <c:pt idx="4">
                  <c:v>id_07</c:v>
                </c:pt>
                <c:pt idx="5">
                  <c:v>id_26</c:v>
                </c:pt>
                <c:pt idx="6">
                  <c:v>id_22</c:v>
                </c:pt>
                <c:pt idx="7">
                  <c:v>id_33</c:v>
                </c:pt>
                <c:pt idx="8">
                  <c:v>id_30</c:v>
                </c:pt>
                <c:pt idx="9">
                  <c:v>DeviceInfo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99.2</c:v>
                </c:pt>
                <c:pt idx="1">
                  <c:v>99.1</c:v>
                </c:pt>
                <c:pt idx="2">
                  <c:v>99.1</c:v>
                </c:pt>
                <c:pt idx="3">
                  <c:v>99.1</c:v>
                </c:pt>
                <c:pt idx="4">
                  <c:v>99.1</c:v>
                </c:pt>
                <c:pt idx="5">
                  <c:v>99.1</c:v>
                </c:pt>
                <c:pt idx="6">
                  <c:v>99.1</c:v>
                </c:pt>
                <c:pt idx="7">
                  <c:v>87.5</c:v>
                </c:pt>
                <c:pt idx="8">
                  <c:v>86.8</c:v>
                </c:pt>
                <c:pt idx="9">
                  <c:v>79.900000000000006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97-4D6B-8BB4-8B8639F3A0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7308595654691031E-2"/>
          <c:y val="5.1446199763004311E-2"/>
          <c:w val="0.92269140434530894"/>
          <c:h val="0.723359095540272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90.86</c:v>
                </c:pt>
                <c:pt idx="1">
                  <c:v>20.85</c:v>
                </c:pt>
                <c:pt idx="2">
                  <c:v>55.63</c:v>
                </c:pt>
                <c:pt idx="3">
                  <c:v>30.33</c:v>
                </c:pt>
                <c:pt idx="4">
                  <c:v>79.5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C8-492D-B908-8A9BD9FB92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95.95</c:v>
                </c:pt>
                <c:pt idx="1">
                  <c:v>45.36</c:v>
                </c:pt>
                <c:pt idx="2">
                  <c:v>64.77</c:v>
                </c:pt>
                <c:pt idx="3">
                  <c:v>53.36</c:v>
                </c:pt>
                <c:pt idx="4">
                  <c:v>91.18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C8-492D-B908-8A9BD9FB92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HGNN-ATT-TD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FC8-492D-B908-8A9BD9FB9259}"/>
              </c:ext>
            </c:extLst>
          </c:dPt>
          <c:dPt>
            <c:idx val="1"/>
            <c:invertIfNegative val="0"/>
            <c:bubble3D val="0"/>
            <c:spPr>
              <a:solidFill>
                <a:srgbClr val="703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CFC8-492D-B908-8A9BD9FB9259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C8-492D-B908-8A9BD9FB9259}"/>
              </c:ext>
            </c:extLst>
          </c:dPt>
          <c:dPt>
            <c:idx val="3"/>
            <c:invertIfNegative val="0"/>
            <c:bubble3D val="0"/>
            <c:spPr>
              <a:solidFill>
                <a:srgbClr val="703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CFC8-492D-B908-8A9BD9FB9259}"/>
              </c:ext>
            </c:extLst>
          </c:dPt>
          <c:dPt>
            <c:idx val="4"/>
            <c:invertIfNegative val="0"/>
            <c:bubble3D val="0"/>
            <c:spPr>
              <a:solidFill>
                <a:srgbClr val="703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C8-492D-B908-8A9BD9FB925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93.98</c:v>
                </c:pt>
                <c:pt idx="1">
                  <c:v>25.53</c:v>
                </c:pt>
                <c:pt idx="2">
                  <c:v>35.54</c:v>
                </c:pt>
                <c:pt idx="3">
                  <c:v>29.71</c:v>
                </c:pt>
                <c:pt idx="4">
                  <c:v>82.38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C8-492D-B908-8A9BD9FB92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D1B2A"/>
                </a:solidFill>
                <a:latin typeface="Arial"/>
              </a:rPr>
              <a:t>ROC-AUC Score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 (%)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9D-486F-8102-05047494C28E}"/>
              </c:ext>
            </c:extLst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9D-486F-8102-05047494C28E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9D-486F-8102-05047494C28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 Tree</c:v>
                </c:pt>
                <c:pt idx="1">
                  <c:v>HGNN-ATT-TD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79.5</c:v>
                </c:pt>
                <c:pt idx="1">
                  <c:v>82.38</c:v>
                </c:pt>
                <c:pt idx="2">
                  <c:v>91.18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59D-486F-8102-05047494C2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D1B2A"/>
                </a:solidFill>
                <a:latin typeface="Arial"/>
              </a:rPr>
              <a:t>Training Loss (per epoch)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Focal Loss</c:v>
                </c:pt>
              </c:strCache>
            </c:strRef>
          </c:tx>
          <c:spPr>
            <a:ln w="31750" cap="flat">
              <a:solidFill>
                <a:srgbClr val="E05C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5C4B"/>
              </a:solidFill>
              <a:ln w="9525" cap="flat">
                <a:solidFill>
                  <a:srgbClr val="E05C4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Ep 1</c:v>
                </c:pt>
                <c:pt idx="1">
                  <c:v>Ep 5</c:v>
                </c:pt>
                <c:pt idx="2">
                  <c:v>Ep 10</c:v>
                </c:pt>
                <c:pt idx="3">
                  <c:v>Ep 15</c:v>
                </c:pt>
                <c:pt idx="4">
                  <c:v>Ep 20</c:v>
                </c:pt>
                <c:pt idx="5">
                  <c:v>Ep 25</c:v>
                </c:pt>
                <c:pt idx="6">
                  <c:v>Ep 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4.4900000000000002E-2</c:v>
                </c:pt>
                <c:pt idx="1">
                  <c:v>3.0099999999999998E-2</c:v>
                </c:pt>
                <c:pt idx="2">
                  <c:v>2.1600000000000001E-2</c:v>
                </c:pt>
                <c:pt idx="3">
                  <c:v>1.9199999999999998E-2</c:v>
                </c:pt>
                <c:pt idx="4">
                  <c:v>1.8700000000000001E-2</c:v>
                </c:pt>
                <c:pt idx="5">
                  <c:v>1.84E-2</c:v>
                </c:pt>
                <c:pt idx="6">
                  <c:v>1.84E-2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127-4965-8189-0D1EBDC2F7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D1B2A"/>
                </a:solidFill>
                <a:latin typeface="Arial"/>
              </a:rPr>
              <a:t>Validation AUC (per epoch)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AUC</c:v>
                </c:pt>
              </c:strCache>
            </c:strRef>
          </c:tx>
          <c:spPr>
            <a:ln w="31750" cap="flat">
              <a:solidFill>
                <a:srgbClr val="0B6E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6E6E"/>
              </a:solidFill>
              <a:ln w="9525" cap="flat">
                <a:solidFill>
                  <a:srgbClr val="0B6E6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Ep 1</c:v>
                </c:pt>
                <c:pt idx="1">
                  <c:v>Ep 5</c:v>
                </c:pt>
                <c:pt idx="2">
                  <c:v>Ep 10</c:v>
                </c:pt>
                <c:pt idx="3">
                  <c:v>Ep 15</c:v>
                </c:pt>
                <c:pt idx="4">
                  <c:v>Ep 20</c:v>
                </c:pt>
                <c:pt idx="5">
                  <c:v>Ep 25</c:v>
                </c:pt>
                <c:pt idx="6">
                  <c:v>Ep 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0.54710000000000003</c:v>
                </c:pt>
                <c:pt idx="1">
                  <c:v>0.70169999999999999</c:v>
                </c:pt>
                <c:pt idx="2">
                  <c:v>0.78959999999999997</c:v>
                </c:pt>
                <c:pt idx="3">
                  <c:v>0.80620000000000003</c:v>
                </c:pt>
                <c:pt idx="4">
                  <c:v>0.81340000000000001</c:v>
                </c:pt>
                <c:pt idx="5">
                  <c:v>0.81640000000000001</c:v>
                </c:pt>
                <c:pt idx="6">
                  <c:v>0.81679999999999997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744-49E5-9BBA-03604F636A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1995429450629"/>
          <c:y val="9.3494727632730104E-2"/>
          <c:w val="0.8374594608863547"/>
          <c:h val="0.7729221347331584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DT — Before</c:v>
                </c:pt>
                <c:pt idx="1">
                  <c:v>DT — After</c:v>
                </c:pt>
                <c:pt idx="2">
                  <c:v>XGB — Before</c:v>
                </c:pt>
                <c:pt idx="3">
                  <c:v>XGB — After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119573</c:v>
                </c:pt>
                <c:pt idx="1">
                  <c:v>119573</c:v>
                </c:pt>
                <c:pt idx="2">
                  <c:v>119573</c:v>
                </c:pt>
                <c:pt idx="3">
                  <c:v>119573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17-48DF-BCED-5862AEDFAC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Fraud (real)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DT — Before</c:v>
                </c:pt>
                <c:pt idx="1">
                  <c:v>DT — After</c:v>
                </c:pt>
                <c:pt idx="2">
                  <c:v>XGB — Before</c:v>
                </c:pt>
                <c:pt idx="3">
                  <c:v>XGB — After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4439</c:v>
                </c:pt>
                <c:pt idx="1">
                  <c:v>4439</c:v>
                </c:pt>
                <c:pt idx="2">
                  <c:v>4439</c:v>
                </c:pt>
                <c:pt idx="3">
                  <c:v>4439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17-48DF-BCED-5862AEDFAC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Fraud (synth)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DT — Before</c:v>
                </c:pt>
                <c:pt idx="1">
                  <c:v>DT — After</c:v>
                </c:pt>
                <c:pt idx="2">
                  <c:v>XGB — Before</c:v>
                </c:pt>
                <c:pt idx="3">
                  <c:v>XGB — After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55347</c:v>
                </c:pt>
                <c:pt idx="2">
                  <c:v>0</c:v>
                </c:pt>
                <c:pt idx="3">
                  <c:v>55347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17-48DF-BCED-5862AEDFA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517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raudDetection_Final.pptx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latin typeface="Eras Bold ITC" panose="020B0907030504020204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4000" dirty="0">
              <a:latin typeface="Eras Bold ITC" panose="020B090703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06654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Pipeline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IEEE-CIS Fraud Detection Dataset  ·  Decision Tree  ·  XGBoost  ·  HGNN-ATT-TD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880360"/>
            <a:ext cx="4572000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632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R ·  Aleena Antony  ·  Krishnendhu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0632" y="534525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19456" y="105301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IEEE-CIS Fraud Detection · 30% stratified sample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9456" y="1529334"/>
            <a:ext cx="2103120" cy="96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62991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" y="181279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177,162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9184" y="218770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30% of 590,540 rows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14016" y="1520190"/>
            <a:ext cx="2103120" cy="96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3744" y="162991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23744" y="181279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23744" y="218770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After merging transaction + identity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1520190"/>
            <a:ext cx="2103120" cy="96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62991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18304" y="181279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18304" y="218770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21424" y="1520190"/>
            <a:ext cx="2103120" cy="96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162991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12864" y="181279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26.9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12864" y="218770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Legit vs fraud transactions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9456" y="2580894"/>
            <a:ext cx="2103120" cy="960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68147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" y="286435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9184" y="323926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 issues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14016" y="2571750"/>
            <a:ext cx="2103120" cy="960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8147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High-Missing Cols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23744" y="286435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/ 434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523744" y="323926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Columns &gt;50% missing — dropped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08576" y="2571750"/>
            <a:ext cx="2103120" cy="960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268147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18304" y="286435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718304" y="323926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inc. 339 anonymised V-features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03136" y="2571750"/>
            <a:ext cx="2103120" cy="960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268147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12864" y="286435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912864" y="3239262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for modelling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— The Core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3.58% fraud means a naive model predicting 'legit' always scores 96.42% accuracy but catches nothing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00584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— Missing Value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of 434 columns exceed 50% missing — dropped before modelling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00584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5040" y="1005840"/>
            <a:ext cx="54864" cy="7772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99632" y="10607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Drop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99632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columns with &gt;50% missing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214 columns dropped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9904" y="1911096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0" y="1920240"/>
            <a:ext cx="54864" cy="7772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9632" y="19751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Impute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99632" y="2194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Numeric: median fill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fill with 'Unknown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2841244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2834640"/>
            <a:ext cx="54864" cy="7772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9632" y="28895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Cap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99632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TransactionAmt outliers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99th percentile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35040" y="3749040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0" y="3749040"/>
            <a:ext cx="54864" cy="7772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9632" y="38039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Encode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99632" y="4023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for 31 categorical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columns; StandardScaler applied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new signals from raw IEEE-CIS fields before model training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743200" cy="155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27432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17014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" y="1362456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hour_of_day, day_of_week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Cyclical sin/cos encoding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midnight discontinuity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27248" y="960120"/>
            <a:ext cx="2743200" cy="155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27248" y="9601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6976" y="117014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Amount Features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36976" y="1362456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TransactionAmt_log (fixes skew)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Decimal part (fraud = round numbers?)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is_round binary flag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960120"/>
            <a:ext cx="2743200" cy="155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3328" y="96012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17014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Card Features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63056" y="1362456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card1 × card2 frequency encoding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Amount-to-card-mean ratio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Unique card proxy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699222"/>
            <a:ext cx="2743200" cy="155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679192"/>
            <a:ext cx="2743200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8950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Email Features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" y="308152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Purchaser vs recipient domain match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Email provider frequency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Binary email_match flag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27248" y="2679192"/>
            <a:ext cx="2743200" cy="155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27248" y="2679192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883626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36976" y="308152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339 V-features → 50 components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Retains most variance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Removes collinearity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53328" y="2679192"/>
            <a:ext cx="2743200" cy="155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2679192"/>
            <a:ext cx="27432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288950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63056" y="308152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Ranked all features by fraud MI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Selected top predictors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Removes noise features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0395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006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 stratified split · artifacts saved as .pkl and .pt files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" y="1417320"/>
            <a:ext cx="1298448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0B6E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417320"/>
            <a:ext cx="1298448" cy="25603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173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Merge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2011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CSVs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63040" y="1920240"/>
            <a:ext cx="109728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2768" y="1417320"/>
            <a:ext cx="1298448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0B6E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72768" y="1417320"/>
            <a:ext cx="1298448" cy="25603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14173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27632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Impute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27632" y="2011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Drop, median fill,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fill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71216" y="1920240"/>
            <a:ext cx="109728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0944" y="1417320"/>
            <a:ext cx="1298448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0B6E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80944" y="1417320"/>
            <a:ext cx="1298448" cy="25603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80944" y="14173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35808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35808" y="2011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Amount,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Email, PCA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79392" y="1920240"/>
            <a:ext cx="109728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417320"/>
            <a:ext cx="1298448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0B6E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1417320"/>
            <a:ext cx="1298448" cy="25603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4173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43984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43984" y="2011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87568" y="1920240"/>
            <a:ext cx="109728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97296" y="1417320"/>
            <a:ext cx="1298448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0B6E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97296" y="1417320"/>
            <a:ext cx="1298448" cy="25603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7296" y="14173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5216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 3 Models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0" y="2011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DT, XGBoost,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HGNN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095744" y="1920240"/>
            <a:ext cx="109728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05472" y="1417320"/>
            <a:ext cx="1298448" cy="1005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0B6E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05472" y="1417320"/>
            <a:ext cx="1298448" cy="25603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141732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60336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60336" y="2011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AUPRC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Cost model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4592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4114" y="2994007"/>
            <a:ext cx="1298448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114" y="2990016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572768" y="2999232"/>
            <a:ext cx="1298448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72768" y="29992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80944" y="2999232"/>
            <a:ext cx="1298448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80944" y="29992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(SMOTE)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389120" y="2999232"/>
            <a:ext cx="1298448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0" y="29992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97296" y="2999232"/>
            <a:ext cx="1298448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97296" y="2999232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000" dirty="0"/>
              <a:t>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05472" y="2999232"/>
            <a:ext cx="1298448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05472" y="29992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64592" y="3657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96596" y="3886200"/>
            <a:ext cx="2834640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4592" y="3886200"/>
            <a:ext cx="45720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" y="40050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01752" y="413308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→ model(s) →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probability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154680" y="3886200"/>
            <a:ext cx="2834640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54680" y="3886200"/>
            <a:ext cx="45720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09802" y="40050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 Batch Tool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291840" y="413308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predict_models_options.py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--model all / dt / xgb / hgnn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44768" y="3886200"/>
            <a:ext cx="2834640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44768" y="3886200"/>
            <a:ext cx="45720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17851" y="40050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Crash-Safe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281928" y="413308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runs in isolated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— one fail ≠ crash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- Actual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metrics from real training runs on 30% IEEE-CIS sample (26,575 test rows)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268129623"/>
              </p:ext>
            </p:extLst>
          </p:nvPr>
        </p:nvGraphicFramePr>
        <p:xfrm>
          <a:off x="943429" y="960120"/>
          <a:ext cx="7191828" cy="2711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C6ED68F-A3D4-E7A9-DE82-2A5D4814EA30}"/>
              </a:ext>
            </a:extLst>
          </p:cNvPr>
          <p:cNvSpPr/>
          <p:nvPr/>
        </p:nvSpPr>
        <p:spPr>
          <a:xfrm>
            <a:off x="580571" y="3783294"/>
            <a:ext cx="25146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EBA3755-BFFE-36EF-7068-BFC74257F835}"/>
              </a:ext>
            </a:extLst>
          </p:cNvPr>
          <p:cNvSpPr/>
          <p:nvPr/>
        </p:nvSpPr>
        <p:spPr>
          <a:xfrm>
            <a:off x="6199124" y="3802706"/>
            <a:ext cx="54864" cy="1097280"/>
          </a:xfrm>
          <a:prstGeom prst="rect">
            <a:avLst/>
          </a:prstGeom>
          <a:solidFill>
            <a:srgbClr val="7030A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2B30536-521F-71AA-0AED-D3371C7D8326}"/>
              </a:ext>
            </a:extLst>
          </p:cNvPr>
          <p:cNvSpPr/>
          <p:nvPr/>
        </p:nvSpPr>
        <p:spPr>
          <a:xfrm>
            <a:off x="700314" y="3947523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Recall: 55.63%</a:t>
            </a:r>
            <a:endParaRPr lang="en-US" sz="11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B4859A3-10D3-8D00-F5B5-9390E80F1A7C}"/>
              </a:ext>
            </a:extLst>
          </p:cNvPr>
          <p:cNvSpPr/>
          <p:nvPr/>
        </p:nvSpPr>
        <p:spPr>
          <a:xfrm>
            <a:off x="713232" y="4166979"/>
            <a:ext cx="2331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 of the three - but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is only 20.85%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 many false alarms)</a:t>
            </a:r>
            <a:endParaRPr lang="en-US" sz="11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4FD7688-59B8-0BEC-7C89-F7A18FBF2730}"/>
              </a:ext>
            </a:extLst>
          </p:cNvPr>
          <p:cNvSpPr/>
          <p:nvPr/>
        </p:nvSpPr>
        <p:spPr>
          <a:xfrm>
            <a:off x="3502152" y="3786595"/>
            <a:ext cx="25146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A0AAE983-1929-CD6B-3674-4AA1BC5E50CC}"/>
              </a:ext>
            </a:extLst>
          </p:cNvPr>
          <p:cNvSpPr/>
          <p:nvPr/>
        </p:nvSpPr>
        <p:spPr>
          <a:xfrm>
            <a:off x="3465068" y="3783294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77D6801-1347-4B96-7391-2C8D10558919}"/>
              </a:ext>
            </a:extLst>
          </p:cNvPr>
          <p:cNvSpPr/>
          <p:nvPr/>
        </p:nvSpPr>
        <p:spPr>
          <a:xfrm>
            <a:off x="3593592" y="3933589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Recall: 64.77%</a:t>
            </a:r>
            <a:endParaRPr lang="en-US" sz="11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0F16C5D-EEF3-A0EF-DE58-177B82A068A1}"/>
              </a:ext>
            </a:extLst>
          </p:cNvPr>
          <p:cNvSpPr/>
          <p:nvPr/>
        </p:nvSpPr>
        <p:spPr>
          <a:xfrm>
            <a:off x="3640183" y="4170390"/>
            <a:ext cx="2331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balance - highest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AND highest precision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F1 simultaneously</a:t>
            </a:r>
            <a:endParaRPr lang="en-US" sz="11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18EBC121-9CEC-97C5-D7EC-E8353935D1A7}"/>
              </a:ext>
            </a:extLst>
          </p:cNvPr>
          <p:cNvSpPr/>
          <p:nvPr/>
        </p:nvSpPr>
        <p:spPr>
          <a:xfrm>
            <a:off x="6263640" y="3803613"/>
            <a:ext cx="25146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77EB21BA-1068-DC8C-D698-377AB883421A}"/>
              </a:ext>
            </a:extLst>
          </p:cNvPr>
          <p:cNvSpPr/>
          <p:nvPr/>
        </p:nvSpPr>
        <p:spPr>
          <a:xfrm>
            <a:off x="538117" y="3787974"/>
            <a:ext cx="54864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7DC3E8A-B486-D973-8571-634F99AF6B19}"/>
              </a:ext>
            </a:extLst>
          </p:cNvPr>
          <p:cNvSpPr/>
          <p:nvPr/>
        </p:nvSpPr>
        <p:spPr>
          <a:xfrm>
            <a:off x="6374747" y="395608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HGNN Recall: 35.54%</a:t>
            </a:r>
            <a:endParaRPr lang="en-US" sz="11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502D05A-081A-48A6-4FBB-B27B6CADCC3B}"/>
              </a:ext>
            </a:extLst>
          </p:cNvPr>
          <p:cNvSpPr/>
          <p:nvPr/>
        </p:nvSpPr>
        <p:spPr>
          <a:xfrm>
            <a:off x="6364224" y="4157037"/>
            <a:ext cx="2331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recall on 30-epoch CPU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- needs more epochs 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for full potential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&amp; Key Metrics Scorecard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leads on every metric — HGNN shows graph-learning potential with more training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543972560"/>
              </p:ext>
            </p:extLst>
          </p:nvPr>
        </p:nvGraphicFramePr>
        <p:xfrm>
          <a:off x="274320" y="1005840"/>
          <a:ext cx="4660537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69037"/>
              </p:ext>
            </p:extLst>
          </p:nvPr>
        </p:nvGraphicFramePr>
        <p:xfrm>
          <a:off x="4934857" y="1088136"/>
          <a:ext cx="3980543" cy="2386584"/>
        </p:xfrm>
        <a:graphic>
          <a:graphicData uri="http://schemas.openxmlformats.org/drawingml/2006/table">
            <a:tbl>
              <a:tblPr/>
              <a:tblGrid>
                <a:gridCol w="1190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6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HGNN-ATT-TD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934857" y="3657600"/>
            <a:ext cx="39805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XGBoost best on ALL metrics for this 30% CPU-only training run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967513" y="4023360"/>
            <a:ext cx="3915229" cy="68580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5178697" y="410108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Accuracy?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3.58% fraud, always predicting 'legit' = 96.4% accuracy but 0% fraud caught. Use Recall &amp; ROC-AUC</a:t>
            </a: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HGNN-ATT-TD — Training Convergence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epochs · FocalLoss (γ=2.0, α=0.75) · 139,031 parameters · CPU training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005840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 - Strategy per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approaches — each matched to the model's native capabilities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804011984"/>
              </p:ext>
            </p:extLst>
          </p:nvPr>
        </p:nvGraphicFramePr>
        <p:xfrm>
          <a:off x="356616" y="1090603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15584" y="989657"/>
            <a:ext cx="3108960" cy="1051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005840"/>
            <a:ext cx="54864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07024" y="107899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07024" y="1316736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Auto-penalises fraud misses.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+ SMOTE → 1:2 ratio after resampling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2194560"/>
            <a:ext cx="3108960" cy="1051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07024" y="226771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07024" y="2505456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26.9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Fraud worth 27× more in loss.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+ SMOTE → 55,347 synthetic samples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88152" y="3383280"/>
            <a:ext cx="3108960" cy="1051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3383280"/>
            <a:ext cx="54864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7024" y="345643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HGNN-ATT-TD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07024" y="3694176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FocalLoss (γ=2, α=0.75)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hard, misclassified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fraud examples. No SMOTE needed.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 Implemented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obstacle encountered had a concrete engineering 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65355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Extreme class imbalance (1:26.9)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38988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SMOTE + class_weight + Focal Loss — tailored per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390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434 features, 339 anonymous V-cols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73168" y="138988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PCA to 50 components + Mutual Information feature selection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30428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304288"/>
            <a:ext cx="4206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81801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214 / 434 columns &gt;50% missing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" y="2688336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Drop + median impute numerics + 'Unknown' fill categoricals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30428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04288"/>
            <a:ext cx="42062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47933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XGBoost crashes on macOS (exit 139)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3168" y="2688336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Subprocess isolation built into Streamlit — one model fails,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still run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602736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602736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840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HGNN graph memory on CPU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" y="398678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Hidden dim kept at 64, full-batch PyTorch Geometric HGTConv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60977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602736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2" y="38359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TransactionAmt extreme outliers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3168" y="398678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Cap at 99th percentile during preprocessing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 for real-world fraud detection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57200" cy="5486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960120"/>
            <a:ext cx="8092440" cy="713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332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28930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96.4% accuracy by always predicting 'legit'. ROC-AUC and Recall are the right metrics for imbalanced fraud data.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828800"/>
            <a:ext cx="457200" cy="5486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83080"/>
            <a:ext cx="8092440" cy="713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85623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on tabular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1226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91.18% ROC-AUC, 64.77% Recall, 53.36% F1 — best on every metric for this CPU-trained 30% sample.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651760"/>
            <a:ext cx="457200" cy="5486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606040"/>
            <a:ext cx="8092440" cy="713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67919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Graph structure reveals fraud rings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3522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HGNN sees shared cards/devices across transactions — fraud patterns invisible to flat tabular models.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474720"/>
            <a:ext cx="457200" cy="5486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3429000"/>
            <a:ext cx="8092440" cy="713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5021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Imbalance needs explicit handling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75818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Without SMOTE, class_weight, or Focal Loss — models ignore the minority class entirely. Strategy must match the model.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4297680"/>
            <a:ext cx="457200" cy="54864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297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251960"/>
            <a:ext cx="8092440" cy="713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32511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system 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pres?slideindex=1&amp;slidetitle="/>
              </a:rPr>
              <a:t>https://creditcardfrauddetectionproject3.streamlit.app/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458114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+ CLI tool + subprocess isolation + auto CSV merge = deployable today with no extra engineering.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· IEEE-CIS Dataset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017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Dataset: IEEE-CIS Fraud Detection — Kaggle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HGT Paper: Hu et al. (2020) — Heterogeneous Graph Transformer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Focal Loss: Lin et al. (2017) — RetinaNet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SMOTE: Chawla et al. (2002)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R  ·  Aleena Antony ·  Krishnendhu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1177</Words>
  <Application>Microsoft Office PowerPoint</Application>
  <PresentationFormat>On-screen Show (16:9)</PresentationFormat>
  <Paragraphs>240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– End-to-End ML Pipeline</dc:title>
  <dc:subject>PptxGenJS Presentation</dc:subject>
  <dc:creator>PptxGenJS</dc:creator>
  <cp:lastModifiedBy>vat.aleena19@gmail.com</cp:lastModifiedBy>
  <cp:revision>3</cp:revision>
  <dcterms:created xsi:type="dcterms:W3CDTF">2026-04-20T17:07:35Z</dcterms:created>
  <dcterms:modified xsi:type="dcterms:W3CDTF">2026-04-20T18:01:46Z</dcterms:modified>
</cp:coreProperties>
</file>